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-636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120640" cy="512064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548640"/>
            <a:ext cx="3291840" cy="3291840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572000"/>
            <a:ext cx="3840480" cy="384048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692640" y="4709160"/>
            <a:ext cx="1554480" cy="822960"/>
          </a:xfrm>
          <a:prstGeom prst="triangle">
            <a:avLst/>
          </a:prstGeom>
          <a:solidFill>
            <a:srgbClr val="3FA7A6"/>
          </a:solidFill>
          <a:ln/>
        </p:spPr>
      </p:sp>
      <p:sp>
        <p:nvSpPr>
          <p:cNvPr id="6" name="Shape 4"/>
          <p:cNvSpPr/>
          <p:nvPr/>
        </p:nvSpPr>
        <p:spPr>
          <a:xfrm>
            <a:off x="9921240" y="5486400"/>
            <a:ext cx="1097280" cy="9144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7" name="Shape 5"/>
          <p:cNvSpPr/>
          <p:nvPr/>
        </p:nvSpPr>
        <p:spPr>
          <a:xfrm>
            <a:off x="10314432" y="5943600"/>
            <a:ext cx="310896" cy="4572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488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FA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AIML SUMMER INTERNSHIP 2026  ·  CAPSTONE PROJECT 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468880"/>
            <a:ext cx="8595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Bengaluru House Price</a:t>
            </a:r>
            <a:endParaRPr lang="en-US" sz="4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System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640080" y="43434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machine-learning pipeline that turns raw Bengaluru listings into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reliable, explainable price estimates.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5989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IIHMF, MNNIT Allahabad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5943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62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Bengaluru's real-estate market is large, fragmented, and noisy. Prices swing sharply across micro-locations, area types, and layouts, making it hard for buyers, sellers, and agents to judge whether a quoted price is fair.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329184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3108960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depend on non-linear combinations of location, size and amenities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3913632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730752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simple rule-of-thumb works across 13,000+ listings and dozens of localities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4535424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352544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and sellers lack a fast, data-backed reference price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903720" y="1417320"/>
            <a:ext cx="475488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269480" y="16916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269480" y="196596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13,320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7269480" y="288036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listings across Bengaluru used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ground every prediction in data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269480" y="3794760"/>
            <a:ext cx="4023360" cy="0"/>
          </a:xfrm>
          <a:prstGeom prst="line">
            <a:avLst/>
          </a:prstGeom>
          <a:noFill/>
          <a:ln w="12700">
            <a:solidFill>
              <a:srgbClr val="E2E9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69480" y="39776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269480" y="4251960"/>
            <a:ext cx="4023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62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model that estimates price within a known, honest margin of error — and ship it as a usable app.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House Price Prediction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A4A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7830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08760" y="176479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pipeline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62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13,320 raw Bengaluru listings into a clean, model-ready dataset.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897880" y="150876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A4A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72200" y="17830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17220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0" y="176479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 signal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172200" y="2423160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62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</a:t>
            </a:r>
            <a:r>
              <a:rPr lang="en-US" sz="1350" dirty="0" err="1">
                <a:solidFill>
                  <a:srgbClr val="162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bath_per_bhk</a:t>
            </a:r>
            <a:r>
              <a:rPr lang="en-US" sz="1350" dirty="0">
                <a:solidFill>
                  <a:srgbClr val="162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smtClean="0">
                <a:solidFill>
                  <a:srgbClr val="162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350" dirty="0">
                <a:solidFill>
                  <a:srgbClr val="162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sqft_per_bhk to capture layout efficiency.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A4A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40233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023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08760" y="400507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algorithms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" y="4663440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62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Linear Regression, Random Forest and XGBoost on the same test set.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897880" y="374904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A4A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40233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6172200" y="4023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58000" y="400507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 a live app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172200" y="4663440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62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best model behind an interactive Streamlit interface.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House Price Prediction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Description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3749040" cy="4206240"/>
          </a:xfrm>
          <a:prstGeom prst="roundRect">
            <a:avLst>
              <a:gd name="adj" fmla="val 2927"/>
            </a:avLst>
          </a:prstGeom>
          <a:solidFill>
            <a:srgbClr val="065A82"/>
          </a:solidFill>
          <a:ln/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8288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LISTINGS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4884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13,320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68680" y="30632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of real Bengaluru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listings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" y="3886200"/>
            <a:ext cx="3108960" cy="0"/>
          </a:xfrm>
          <a:prstGeom prst="line">
            <a:avLst/>
          </a:prstGeom>
          <a:noFill/>
          <a:ln w="12700">
            <a:solidFill>
              <a:srgbClr val="3D6E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0690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43434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FA7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68680" y="48006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Lakh INR (₹)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617720" y="155448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IN THE RAW DATA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17720" y="1965960"/>
            <a:ext cx="3337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2312" y="2039112"/>
            <a:ext cx="3008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area_type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82312" y="2331720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of listing (built-up, plot, etc.)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92440" y="1965960"/>
            <a:ext cx="3337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57032" y="2039112"/>
            <a:ext cx="3008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57032" y="2331720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Ready-to-move or possession date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17720" y="2971800"/>
            <a:ext cx="3337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82312" y="3044952"/>
            <a:ext cx="3008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82312" y="3337560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Locality / neighborhood in Bengaluru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092440" y="2971800"/>
            <a:ext cx="3337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57032" y="3044952"/>
            <a:ext cx="3008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57032" y="3337560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Bedroom configuration (e.g. 3 BHK)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17720" y="3977640"/>
            <a:ext cx="3337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82312" y="4050792"/>
            <a:ext cx="3008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82312" y="4343400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society / project name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092440" y="3977640"/>
            <a:ext cx="3337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57032" y="4050792"/>
            <a:ext cx="3008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total_sqft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57032" y="4343400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Built-up area in square feet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17720" y="4983480"/>
            <a:ext cx="3337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82312" y="5056632"/>
            <a:ext cx="3008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bath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782312" y="5349240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bathrooms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092440" y="4983480"/>
            <a:ext cx="3337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57032" y="5056632"/>
            <a:ext cx="3008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balcony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257032" y="5349240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balconies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House Price Prediction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pipeline, from raw CSV to a deployed prediction app.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257300" y="3451860"/>
            <a:ext cx="9646920" cy="0"/>
          </a:xfrm>
          <a:prstGeom prst="line">
            <a:avLst/>
          </a:prstGeom>
          <a:noFill/>
          <a:ln w="38100">
            <a:solidFill>
              <a:srgbClr val="C7D8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301752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01752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402336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752344" y="301752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2752344" y="301752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432304" y="402336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81728" y="301752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4681728" y="301752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361688" y="402336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611112" y="301752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611112" y="301752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91072" y="402336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540496" y="301752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8540496" y="301752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220456" y="402336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469880" y="3017520"/>
            <a:ext cx="868680" cy="868680"/>
          </a:xfrm>
          <a:prstGeom prst="ellipse">
            <a:avLst/>
          </a:prstGeom>
          <a:solidFill>
            <a:srgbClr val="3FA7A6"/>
          </a:solidFill>
          <a:ln/>
        </p:spPr>
      </p:sp>
      <p:sp>
        <p:nvSpPr>
          <p:cNvPr id="21" name="Text 19"/>
          <p:cNvSpPr/>
          <p:nvPr/>
        </p:nvSpPr>
        <p:spPr>
          <a:xfrm>
            <a:off x="10469880" y="301752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149840" y="402336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22960" y="4709160"/>
            <a:ext cx="105156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A4A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97280" y="4892040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62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is reproducible from a single script (bengaluru_pipeline.py), so the model can be retrained end-to-end as new listings arrive — preprocessing, feature engineering and evaluation all run in one pass before the app picks up the saved model artifact.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House Price Prediction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 prediction is made, every input passes through four quiet safeguards.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92808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928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1783080"/>
            <a:ext cx="2743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206240" y="1783080"/>
            <a:ext cx="7406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 smtClean="0">
                <a:solidFill>
                  <a:srgbClr val="162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Derives  </a:t>
            </a:r>
            <a:r>
              <a:rPr lang="en-US" sz="1350" dirty="0" err="1">
                <a:solidFill>
                  <a:srgbClr val="162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bath_per_bhk</a:t>
            </a:r>
            <a:r>
              <a:rPr lang="en-US" sz="1350" dirty="0">
                <a:solidFill>
                  <a:srgbClr val="162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smtClean="0">
                <a:solidFill>
                  <a:srgbClr val="162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350" dirty="0" err="1">
                <a:solidFill>
                  <a:srgbClr val="162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sqft_per_bhk</a:t>
            </a:r>
            <a:r>
              <a:rPr lang="en-US" sz="1350" dirty="0">
                <a:solidFill>
                  <a:srgbClr val="162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smtClean="0">
                <a:solidFill>
                  <a:srgbClr val="162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 </a:t>
            </a:r>
            <a:r>
              <a:rPr lang="en-US" sz="1350" dirty="0">
                <a:solidFill>
                  <a:srgbClr val="162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reads layout efficiency, not just raw counts.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907792"/>
            <a:ext cx="11064240" cy="0"/>
          </a:xfrm>
          <a:prstGeom prst="line">
            <a:avLst/>
          </a:prstGeom>
          <a:noFill/>
          <a:ln w="12700">
            <a:solidFill>
              <a:srgbClr val="E2E9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163824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16382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3054096"/>
            <a:ext cx="2743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Categorical Formatting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206240" y="3054096"/>
            <a:ext cx="7406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62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Location and Area Type to the model's trained categories; converts “Ready to Move” to binary (1 / 0).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178808"/>
            <a:ext cx="11064240" cy="0"/>
          </a:xfrm>
          <a:prstGeom prst="line">
            <a:avLst/>
          </a:prstGeom>
          <a:noFill/>
          <a:ln w="12700">
            <a:solidFill>
              <a:srgbClr val="E2E9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4348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434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25880" y="4325112"/>
            <a:ext cx="2743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Reality Checks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206240" y="4325112"/>
            <a:ext cx="7406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62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unusual inputs — e.g. under 300 sqft for a 3 BHK, or more bathrooms than bedrooms.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0"/>
          </a:xfrm>
          <a:prstGeom prst="line">
            <a:avLst/>
          </a:prstGeom>
          <a:noFill/>
          <a:ln w="12700">
            <a:solidFill>
              <a:srgbClr val="E2E9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5705856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70585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25880" y="5596128"/>
            <a:ext cx="2743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Guards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4206240" y="5596128"/>
            <a:ext cx="7406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62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Clamps any unrealistic negative or near-zero output to a sensible minimum of ₹5 Lakh.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House Price Prediction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3429000" cy="42062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A4A">
                <a:alpha val="14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78308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Univariate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914400" y="3429000"/>
            <a:ext cx="32004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1417320" y="3063240"/>
            <a:ext cx="32004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Shape 5"/>
          <p:cNvSpPr/>
          <p:nvPr/>
        </p:nvSpPr>
        <p:spPr>
          <a:xfrm>
            <a:off x="1920240" y="2606040"/>
            <a:ext cx="320040" cy="1280160"/>
          </a:xfrm>
          <a:prstGeom prst="rect">
            <a:avLst/>
          </a:prstGeom>
          <a:solidFill>
            <a:srgbClr val="3FA7A6"/>
          </a:solidFill>
          <a:ln/>
        </p:spPr>
      </p:sp>
      <p:sp>
        <p:nvSpPr>
          <p:cNvPr id="8" name="Shape 6"/>
          <p:cNvSpPr/>
          <p:nvPr/>
        </p:nvSpPr>
        <p:spPr>
          <a:xfrm>
            <a:off x="2423160" y="2971800"/>
            <a:ext cx="320040" cy="9144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Shape 7"/>
          <p:cNvSpPr/>
          <p:nvPr/>
        </p:nvSpPr>
        <p:spPr>
          <a:xfrm>
            <a:off x="2926080" y="3337560"/>
            <a:ext cx="320040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114800"/>
            <a:ext cx="2880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and square-footage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histograms reveal skewed,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long-tailed distributions.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06240" y="1508760"/>
            <a:ext cx="3429000" cy="42062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A4A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80560" y="178308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Bivariate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663440" y="3611880"/>
            <a:ext cx="146304" cy="146304"/>
          </a:xfrm>
          <a:prstGeom prst="ellipse">
            <a:avLst/>
          </a:prstGeom>
          <a:solidFill>
            <a:srgbClr val="3FA7A6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0" y="333756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Shape 13"/>
          <p:cNvSpPr/>
          <p:nvPr/>
        </p:nvSpPr>
        <p:spPr>
          <a:xfrm>
            <a:off x="5394960" y="306324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Shape 14"/>
          <p:cNvSpPr/>
          <p:nvPr/>
        </p:nvSpPr>
        <p:spPr>
          <a:xfrm>
            <a:off x="5669280" y="3520440"/>
            <a:ext cx="146304" cy="146304"/>
          </a:xfrm>
          <a:prstGeom prst="ellipse">
            <a:avLst/>
          </a:prstGeom>
          <a:solidFill>
            <a:srgbClr val="3FA7A6"/>
          </a:solidFill>
          <a:ln/>
        </p:spPr>
      </p:sp>
      <p:sp>
        <p:nvSpPr>
          <p:cNvPr id="17" name="Shape 15"/>
          <p:cNvSpPr/>
          <p:nvPr/>
        </p:nvSpPr>
        <p:spPr>
          <a:xfrm>
            <a:off x="6035040" y="278892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Shape 16"/>
          <p:cNvSpPr/>
          <p:nvPr/>
        </p:nvSpPr>
        <p:spPr>
          <a:xfrm>
            <a:off x="6309360" y="315468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Shape 17"/>
          <p:cNvSpPr/>
          <p:nvPr/>
        </p:nvSpPr>
        <p:spPr>
          <a:xfrm>
            <a:off x="6675120" y="2514600"/>
            <a:ext cx="146304" cy="146304"/>
          </a:xfrm>
          <a:prstGeom prst="ellipse">
            <a:avLst/>
          </a:prstGeom>
          <a:solidFill>
            <a:srgbClr val="3FA7A6"/>
          </a:solidFill>
          <a:ln/>
        </p:spPr>
      </p:sp>
      <p:sp>
        <p:nvSpPr>
          <p:cNvPr id="20" name="Shape 18"/>
          <p:cNvSpPr/>
          <p:nvPr/>
        </p:nvSpPr>
        <p:spPr>
          <a:xfrm>
            <a:off x="6949440" y="288036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Shape 19"/>
          <p:cNvSpPr/>
          <p:nvPr/>
        </p:nvSpPr>
        <p:spPr>
          <a:xfrm>
            <a:off x="5212080" y="269748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0" y="3703320"/>
            <a:ext cx="146304" cy="146304"/>
          </a:xfrm>
          <a:prstGeom prst="ellipse">
            <a:avLst/>
          </a:prstGeom>
          <a:solidFill>
            <a:srgbClr val="3FA7A6"/>
          </a:solidFill>
          <a:ln/>
        </p:spPr>
      </p:sp>
      <p:sp>
        <p:nvSpPr>
          <p:cNvPr id="23" name="Text 21"/>
          <p:cNvSpPr/>
          <p:nvPr/>
        </p:nvSpPr>
        <p:spPr>
          <a:xfrm>
            <a:off x="4480560" y="4114800"/>
            <a:ext cx="2880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by area type (boxplot)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sqft vs. price scatter,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colored by BHK count.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863840" y="1508760"/>
            <a:ext cx="3429000" cy="42062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A4A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138160" y="178308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Heatmap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8183880" y="2423160"/>
            <a:ext cx="448056" cy="448056"/>
          </a:xfrm>
          <a:prstGeom prst="rect">
            <a:avLst/>
          </a:prstGeom>
          <a:solidFill>
            <a:srgbClr val="065A82">
              <a:alpha val="92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686800" y="2423160"/>
            <a:ext cx="448056" cy="448056"/>
          </a:xfrm>
          <a:prstGeom prst="rect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9189720" y="2423160"/>
            <a:ext cx="448056" cy="448056"/>
          </a:xfrm>
          <a:prstGeom prst="rect">
            <a:avLst/>
          </a:prstGeom>
          <a:solidFill>
            <a:srgbClr val="065A82">
              <a:alpha val="44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9692640" y="2423160"/>
            <a:ext cx="448056" cy="448056"/>
          </a:xfrm>
          <a:prstGeom prst="rect">
            <a:avLst/>
          </a:prstGeom>
          <a:solidFill>
            <a:srgbClr val="065A82">
              <a:alpha val="6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183880" y="2926080"/>
            <a:ext cx="448056" cy="448056"/>
          </a:xfrm>
          <a:prstGeom prst="rect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686800" y="2926080"/>
            <a:ext cx="448056" cy="448056"/>
          </a:xfrm>
          <a:prstGeom prst="rect">
            <a:avLst/>
          </a:prstGeom>
          <a:solidFill>
            <a:srgbClr val="065A82">
              <a:alpha val="92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9189720" y="2926080"/>
            <a:ext cx="448056" cy="448056"/>
          </a:xfrm>
          <a:prstGeom prst="rect">
            <a:avLst/>
          </a:prstGeom>
          <a:solidFill>
            <a:srgbClr val="065A82">
              <a:alpha val="52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9692640" y="2926080"/>
            <a:ext cx="448056" cy="448056"/>
          </a:xfrm>
          <a:prstGeom prst="rect">
            <a:avLst/>
          </a:prstGeom>
          <a:solidFill>
            <a:srgbClr val="065A82">
              <a:alpha val="44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8183880" y="3429000"/>
            <a:ext cx="448056" cy="448056"/>
          </a:xfrm>
          <a:prstGeom prst="rect">
            <a:avLst/>
          </a:prstGeom>
          <a:solidFill>
            <a:srgbClr val="065A82">
              <a:alpha val="44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8686800" y="3429000"/>
            <a:ext cx="448056" cy="448056"/>
          </a:xfrm>
          <a:prstGeom prst="rect">
            <a:avLst/>
          </a:prstGeom>
          <a:solidFill>
            <a:srgbClr val="065A82">
              <a:alpha val="52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9189720" y="3429000"/>
            <a:ext cx="448056" cy="448056"/>
          </a:xfrm>
          <a:prstGeom prst="rect">
            <a:avLst/>
          </a:prstGeom>
          <a:solidFill>
            <a:srgbClr val="065A82">
              <a:alpha val="92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9692640" y="3429000"/>
            <a:ext cx="448056" cy="448056"/>
          </a:xfrm>
          <a:prstGeom prst="rect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8183880" y="3931920"/>
            <a:ext cx="448056" cy="448056"/>
          </a:xfrm>
          <a:prstGeom prst="rect">
            <a:avLst/>
          </a:prstGeom>
          <a:solidFill>
            <a:srgbClr val="065A82">
              <a:alpha val="6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8686800" y="3931920"/>
            <a:ext cx="448056" cy="448056"/>
          </a:xfrm>
          <a:prstGeom prst="rect">
            <a:avLst/>
          </a:prstGeom>
          <a:solidFill>
            <a:srgbClr val="065A82">
              <a:alpha val="44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9189720" y="3931920"/>
            <a:ext cx="448056" cy="448056"/>
          </a:xfrm>
          <a:prstGeom prst="rect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9692640" y="3931920"/>
            <a:ext cx="448056" cy="448056"/>
          </a:xfrm>
          <a:prstGeom prst="rect">
            <a:avLst/>
          </a:prstGeom>
          <a:solidFill>
            <a:srgbClr val="065A82">
              <a:alpha val="92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8138160" y="470916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features (sqft, bath,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balcony, price) checked for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multicollinearity before modeling.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House Price Prediction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Used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algorithms, trained and scored on the same held-out test set.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384048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A4A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74320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Regression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333756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62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model. Struggles to capture complex, non-linear pricing trends.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" y="4983480"/>
            <a:ext cx="2880360" cy="0"/>
          </a:xfrm>
          <a:prstGeom prst="line">
            <a:avLst/>
          </a:prstGeom>
          <a:noFill/>
          <a:ln w="12700">
            <a:solidFill>
              <a:srgbClr val="E2E9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507492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≈ 0.72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43400" y="1737360"/>
            <a:ext cx="3520440" cy="384048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A4A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20574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63440" y="274320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663440" y="333756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62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decision trees. Captures non-linear location patterns well.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4983480"/>
            <a:ext cx="2880360" cy="0"/>
          </a:xfrm>
          <a:prstGeom prst="line">
            <a:avLst/>
          </a:prstGeom>
          <a:noFill/>
          <a:ln w="12700">
            <a:solidFill>
              <a:srgbClr val="E2E9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507492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≈ 0.85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138160" y="1737360"/>
            <a:ext cx="3520440" cy="3840480"/>
          </a:xfrm>
          <a:prstGeom prst="roundRect">
            <a:avLst>
              <a:gd name="adj" fmla="val 3117"/>
            </a:avLst>
          </a:prstGeom>
          <a:solidFill>
            <a:srgbClr val="065A82"/>
          </a:solidFill>
          <a:ln/>
          <a:effectLst>
            <a:outerShdw blurRad="127000" dist="38100" dir="5400000" algn="bl" rotWithShape="0">
              <a:srgbClr val="1B2A4A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0607040" y="1536192"/>
            <a:ext cx="1234440" cy="402336"/>
          </a:xfrm>
          <a:prstGeom prst="roundRect">
            <a:avLst>
              <a:gd name="adj" fmla="val 50000"/>
            </a:avLst>
          </a:prstGeom>
          <a:solidFill>
            <a:srgbClr val="3FA7A6"/>
          </a:solidFill>
          <a:ln/>
        </p:spPr>
      </p:sp>
      <p:sp>
        <p:nvSpPr>
          <p:cNvPr id="20" name="Text 18"/>
          <p:cNvSpPr/>
          <p:nvPr/>
        </p:nvSpPr>
        <p:spPr>
          <a:xfrm>
            <a:off x="10607040" y="1536192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458200" y="2057400"/>
            <a:ext cx="502920" cy="502920"/>
          </a:xfrm>
          <a:prstGeom prst="ellipse">
            <a:avLst/>
          </a:prstGeom>
          <a:solidFill>
            <a:srgbClr val="3FA7A6"/>
          </a:solidFill>
          <a:ln/>
        </p:spPr>
      </p:sp>
      <p:sp>
        <p:nvSpPr>
          <p:cNvPr id="22" name="Text 20"/>
          <p:cNvSpPr/>
          <p:nvPr/>
        </p:nvSpPr>
        <p:spPr>
          <a:xfrm>
            <a:off x="845820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458200" y="274320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8458200" y="333756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Gradient-boosted trees. Best overall performance across every metric.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458200" y="4983480"/>
            <a:ext cx="2880360" cy="0"/>
          </a:xfrm>
          <a:prstGeom prst="line">
            <a:avLst/>
          </a:prstGeom>
          <a:noFill/>
          <a:ln w="12700">
            <a:solidFill>
              <a:srgbClr val="3D6E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58200" y="507492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FA7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≈ 0.88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House Price Prediction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evaluated on the same unseen test dataset.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1737360"/>
        </p:xfrm>
        <a:graphic>
          <a:graphicData uri="http://schemas.openxmlformats.org/drawingml/2006/table">
            <a:tbl>
              <a:tblPr/>
              <a:tblGrid>
                <a:gridCol w="2286000"/>
                <a:gridCol w="1554480"/>
                <a:gridCol w="1737360"/>
                <a:gridCol w="1737360"/>
                <a:gridCol w="3749040"/>
              </a:tblGrid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(₹ Lakh)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(₹ Lakh)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22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622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~0.72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622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~25.4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622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~45.1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7C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Baseline; struggles with non-linear trends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22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622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~0.85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622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~19.8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622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~31.2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7C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at capturing non-linear location patterns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 ★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~0.88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~18.5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~29.3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8FB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overall performance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79476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A4A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39776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Score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4343400"/>
            <a:ext cx="3108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62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the model explains price variation — higher is better. XGBoost explains ~88%.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297680" y="379476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A4A">
                <a:alpha val="13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526280" y="39776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</a:t>
            </a:r>
            <a:endParaRPr lang="en-US" sz="1500" dirty="0"/>
          </a:p>
        </p:txBody>
      </p:sp>
      <p:sp>
        <p:nvSpPr>
          <p:cNvPr id="4" name="Text 7"/>
          <p:cNvSpPr/>
          <p:nvPr/>
        </p:nvSpPr>
        <p:spPr>
          <a:xfrm>
            <a:off x="4526280" y="4343400"/>
            <a:ext cx="3108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62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error in Lakhs — lower is better. XGBoost is off by ~₹18.5L on average.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046720" y="379476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A4A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275320" y="39776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RMSE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275320" y="4343400"/>
            <a:ext cx="3108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62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Penalizes large errors — higher than MAE shows a few big misses on luxury homes.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House Price Prediction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— Live Prediction App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interface: enter listing details, get an instant price estimate.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15200" y="17830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589520" y="2084832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589520" y="2953512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589520" y="3822192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525512" y="484632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House Price Prediction</a:t>
            </a:r>
            <a:endParaRPr lang="en-US" sz="900" dirty="0"/>
          </a:p>
        </p:txBody>
      </p:sp>
      <p:pic>
        <p:nvPicPr>
          <p:cNvPr id="1026" name="Picture 2" descr="C:\Users\DELL\Downloads\WhatsApp Image 2026-07-13 at 09.57.40.jpe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7666" y="1188720"/>
            <a:ext cx="10543430" cy="558184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4206240"/>
            <a:ext cx="4206240" cy="420624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-1463040"/>
            <a:ext cx="3474720" cy="347472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114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94360" y="1600200"/>
            <a:ext cx="457200" cy="457200"/>
          </a:xfrm>
          <a:prstGeom prst="ellipse">
            <a:avLst/>
          </a:prstGeom>
          <a:solidFill>
            <a:srgbClr val="3FA7A6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463040"/>
            <a:ext cx="6217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delivered the best overall performance, explaining ~88% of price variance with the lowest error.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25603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423160"/>
            <a:ext cx="6217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ratios (bath_per_bhk, sqft_per_bhk) gave the model real signal beyond raw feature counts.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35204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3383280"/>
            <a:ext cx="6217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and safety-guard logic keep predictions sensible even for atypical or extreme inputs.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" y="44805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4343400"/>
            <a:ext cx="6217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pipeline is deployed end-to-end as a live Streamlit app, ready for real users.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01000" y="1645920"/>
            <a:ext cx="3611880" cy="3566160"/>
          </a:xfrm>
          <a:prstGeom prst="roundRect">
            <a:avLst>
              <a:gd name="adj" fmla="val 3077"/>
            </a:avLst>
          </a:prstGeom>
          <a:solidFill>
            <a:srgbClr val="192050"/>
          </a:solidFill>
          <a:ln w="12700">
            <a:solidFill>
              <a:srgbClr val="3540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19202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75320" y="21945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FA7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8275320" y="2880360"/>
            <a:ext cx="3108960" cy="0"/>
          </a:xfrm>
          <a:prstGeom prst="line">
            <a:avLst/>
          </a:prstGeom>
          <a:noFill/>
          <a:ln w="12700">
            <a:solidFill>
              <a:srgbClr val="3540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75320" y="30632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75320" y="32918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0.88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8275320" y="39776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75320" y="42062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 18.5 Lakh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F7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House Price Prediction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840480"/>
            <a:ext cx="4389120" cy="4389120"/>
          </a:xfrm>
          <a:prstGeom prst="ellipse">
            <a:avLst/>
          </a:prstGeom>
          <a:solidFill>
            <a:srgbClr val="1C7293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645920"/>
            <a:ext cx="3657600" cy="3657600"/>
          </a:xfrm>
          <a:prstGeom prst="ellipse">
            <a:avLst/>
          </a:prstGeom>
          <a:solidFill>
            <a:srgbClr val="065A82">
              <a:alpha val="5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114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192050"/>
          </a:solidFill>
          <a:ln w="12700">
            <a:solidFill>
              <a:srgbClr val="3540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1947672"/>
            <a:ext cx="438912" cy="438912"/>
          </a:xfrm>
          <a:prstGeom prst="ellipse">
            <a:avLst/>
          </a:prstGeom>
          <a:solidFill>
            <a:srgbClr val="3FA7A6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9476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96112" y="2514600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Richer features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6112" y="2862072"/>
            <a:ext cx="30083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age, proximity to metro/tech parks, and amenity data for sharper estimates.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0" y="169164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192050"/>
          </a:solidFill>
          <a:ln w="12700">
            <a:solidFill>
              <a:srgbClr val="3540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45152" y="1947672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645152" y="19476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45152" y="2514600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45152" y="2862072"/>
            <a:ext cx="30083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neural approaches to capture subtler location and layout interactions.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38160" y="169164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192050"/>
          </a:solidFill>
          <a:ln w="12700">
            <a:solidFill>
              <a:srgbClr val="35407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94192" y="1947672"/>
            <a:ext cx="438912" cy="438912"/>
          </a:xfrm>
          <a:prstGeom prst="ellipse">
            <a:avLst/>
          </a:prstGeom>
          <a:solidFill>
            <a:srgbClr val="3FA7A6"/>
          </a:solidFill>
          <a:ln/>
        </p:spPr>
      </p:sp>
      <p:sp>
        <p:nvSpPr>
          <p:cNvPr id="17" name="Text 15"/>
          <p:cNvSpPr/>
          <p:nvPr/>
        </p:nvSpPr>
        <p:spPr>
          <a:xfrm>
            <a:off x="8394192" y="19476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94192" y="2514600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Deeper tuning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94192" y="2862072"/>
            <a:ext cx="30083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hyperparameter search and ensembling across model families.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384048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192050"/>
          </a:solidFill>
          <a:ln w="12700">
            <a:solidFill>
              <a:srgbClr val="35407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6112" y="4096512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" y="40965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96112" y="4663440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96112" y="5010912"/>
            <a:ext cx="30083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SHAP-based explanations so users see why a price was predicted.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89120" y="384048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192050"/>
          </a:solidFill>
          <a:ln w="12700">
            <a:solidFill>
              <a:srgbClr val="35407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45152" y="4096512"/>
            <a:ext cx="438912" cy="438912"/>
          </a:xfrm>
          <a:prstGeom prst="ellipse">
            <a:avLst/>
          </a:prstGeom>
          <a:solidFill>
            <a:srgbClr val="3FA7A6"/>
          </a:solidFill>
          <a:ln/>
        </p:spPr>
      </p:sp>
      <p:sp>
        <p:nvSpPr>
          <p:cNvPr id="27" name="Text 25"/>
          <p:cNvSpPr/>
          <p:nvPr/>
        </p:nvSpPr>
        <p:spPr>
          <a:xfrm>
            <a:off x="4645152" y="40965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645152" y="4663440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deployment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645152" y="5010912"/>
            <a:ext cx="30083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local Streamlit to a managed cloud deployment with CI/CD.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138160" y="384048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192050"/>
          </a:solidFill>
          <a:ln w="12700">
            <a:solidFill>
              <a:srgbClr val="35407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94192" y="4096512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8394192" y="40965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394192" y="4663440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learning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394192" y="5010912"/>
            <a:ext cx="30083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retraining as fresh Bengaluru listings become available.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F7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House Price Prediction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957</Words>
  <Application>Microsoft Office PowerPoint</Application>
  <PresentationFormat>Custom</PresentationFormat>
  <Paragraphs>213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DELL</cp:lastModifiedBy>
  <cp:revision>5</cp:revision>
  <dcterms:created xsi:type="dcterms:W3CDTF">2026-07-12T16:50:41Z</dcterms:created>
  <dcterms:modified xsi:type="dcterms:W3CDTF">2026-07-13T04:44:59Z</dcterms:modified>
</cp:coreProperties>
</file>